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End-to-End Stock Price Prediction
Data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3291840"/>
            <a:ext cx="576072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4A90D9"/>
                </a:solidFill>
                <a:latin typeface="Calibri"/>
              </a:rPr>
              <a:t>From Real-Time Data Collection to Machine Learning Predictions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AC4E8"/>
                </a:solidFill>
                <a:latin typeface="Calibri"/>
              </a:rPr>
              <a:t>[Your Name]   |   [Student ID]   |   [Course Name]   |  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Why this project was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2E"/>
                </a:solidFill>
                <a:latin typeface="Calibri"/>
              </a:rPr>
              <a:t>- Stock prices arrive in real time, but most projects only work with downloaded CSV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2E"/>
                </a:solidFill>
                <a:latin typeface="Calibri"/>
              </a:rPr>
              <a:t>- There is no single unified system that handles live data, cleans it, stores it, and makes predictions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2E"/>
                </a:solidFill>
                <a:latin typeface="Calibri"/>
              </a:rPr>
              <a:t>- It is unclear whether complex AI models actually outperform simple ones on small financial datasets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0040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291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PROJECT GOALS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2E"/>
                </a:solidFill>
                <a:latin typeface="Calibri"/>
              </a:rPr>
              <a:t>- Build a complete pipeline: from live data collection to serving predictions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2E"/>
                </a:solidFill>
                <a:latin typeface="Calibri"/>
              </a:rPr>
              <a:t>- Handle both historical data and live streaming data in the same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89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2E"/>
                </a:solidFill>
                <a:latin typeface="Calibri"/>
              </a:rPr>
              <a:t>- Train and compare three prediction models to find which one works best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1A1A2E"/>
                </a:solidFill>
                <a:latin typeface="Calibri"/>
              </a:rPr>
              <a:t>- Display predictions through a web dashboard and a REST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Five-stage Lambda Architecture pipeline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Tools Used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1 -- Ingestion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Collect stock data (live + historical)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yfinance, Finnhub WebSocket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2 -- ETL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Clean and transform the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Apache Kafka, PySpark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3 -- Warehouse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Store data in an organized structure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PostgreSQL, Parquet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4 --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Train prediction models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ARIMA, LightGBM, LSTM, MLflow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5 -- Serving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Show predictions to users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FastAPI, Streamlit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475488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3F7A"/>
                </a:solidFill>
                <a:latin typeface="Calibri"/>
              </a:rPr>
              <a:t>Key design choice: both the live path and the historical batch path use the same cleaning logic, so results are always consistent regardless of the data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Stage 1 -- Data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Collecting stock data from two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LIVE DATA (REAL-TIME)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3035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Connects to Finnhub stock market feed during US trading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43100"/>
            <a:ext cx="53035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Receives trade events every second: price, volume, and timestamp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53035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Bad or missing records are saved separately for review (Dead Letter Queue)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234440"/>
            <a:ext cx="36576" cy="3474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HISTORICAL DATA (BATCH)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60020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Downloads 2 years of daily AAPL stock prices from Yahoo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4310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Each row contains: open, high, low, close, and volume for that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286000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Saved as a Parquet file for fast processing later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9184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83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501 rows of AAPL daily OHLCV data covering approximately 2 years of trading days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Stage 2 -- ETL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Extract, Transform, Load: moving and cleaning 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APACHE KAFKA (MESSAGE QUEUE)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Acts as a waiting room for incoming live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4310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Stores messages for 7 days so nothing is lost if the system crashes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Separates data collection from data processing (loose coupling)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83464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926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PYSPARK (PROCESSING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9184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Live path: groups raw trade ticks into 1-minute price bars (open, high, low, close, volume)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474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Handles data arriving up to 5 minutes late without losing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7764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Batch path: processes the 2-year historical file using the exact same logic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2054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Saves results to both Parquet files and PostgreSQL at the same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34924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440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3F7A"/>
                </a:solidFill>
                <a:latin typeface="Calibri"/>
              </a:rPr>
              <a:t>Both paths write to the same Bronze storage layer, so the data format is always identical.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Stage 3 -- Medallion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Three quality layers: Bronze, Silver, Gold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BRONZE  --  Raw 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Data stored exactly as received, nothing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47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Acts as a permanent backup -- any error downstream can be fixed by reprocessing from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9514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Partitioned by date and ticker for fast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340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SILVER  --  Clean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54096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Remove rows with missing values and duplicates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0156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Flag unusual price spikes (more than 3 standard deviations from the average)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Add 14 features: moving averages, RSI, MACD, Bollinger Bands, daily return, volume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All 6 data quality checks passed; only 3.6% of rows flagged as outliers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535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GOLD  --  Ready for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5546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Organized as a Star Schema: one fact table and 3 dimension tables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02936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Fact table: 501 rows with all features and next-day closing price as the ML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504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  -  Loaded into PostgreSQL so the API can query it in real 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Stage 4 -- Machine Learning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Three models trained and 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DATA SPLIT (TIME-BASED -- NO SHUFFLING)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70% Train (earliest data)  --&gt;  329 rows     |     15% Validation  --&gt;  70 rows     |     15% Test (most recent)  --&gt;  71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97380"/>
            <a:ext cx="1124712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A1A2E"/>
                </a:solidFill>
                <a:latin typeface="Calibri"/>
              </a:rPr>
              <a:t>  Scaler fitted on training data only to prevent future data from leaking into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7432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Key Settings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ARIMA (5,1,2)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Classic Time Series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Past closing prices only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5 AR lags, 1st-order differencing, 2 MA terms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All 19 engineered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500 trees, learning rate 0.05, early stopping at 50 rounds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Deep Learning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30-day sliding window, 19 features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2 stacked LSTM layers with Dropout, Dense output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3F7A"/>
                </a:solidFill>
                <a:latin typeface="Calibri"/>
              </a:rPr>
              <a:t>All training runs are tracked with MLflow so experiments are reproducible.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Model Performance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Test set -- 71 most recent trading days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MAE (USD)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RMSE (USD)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MAPE (%)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Direction Correct (%)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Sharpe Ratio</a:t>
                      </a:r>
                    </a:p>
                  </a:txBody>
                  <a:tcPr>
                    <a:solidFill>
                      <a:srgbClr val="0D2B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ARIMA  (Winner)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$3.15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$4.33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1.19%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23.97%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+1.88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$9.96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$13.13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3.66%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23.29%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-1.13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$41.97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$43.26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15.80%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22.41%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-1.85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352044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611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WHY DID THE SIMPLE MODEL WIN?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77639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The training set has only 471 rows -- too small for LightGBM and LSTM to learn without overfitting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20539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ARIMA focuses directly on the repeating pattern in daily closing 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A Sharpe Ratio of +1.88 means the ARIMA predictions, used for trading signals, would be profitable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06339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Conclusion: on small financial datasets, a simpler model is often better than a complex 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Stage 5 -- Application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REST API and interactive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REST API  (FastAPI, port 8000)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/predict     Returns tomorrow's predicted closing price for AAPL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/history     Returns recent price history from the 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/retrain     Triggers model retraining in the 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/health      Checks that the system is running correctly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Every prediction is saved to the database for tracking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234440"/>
            <a:ext cx="36576" cy="3474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DASHBOARD  (Streamlit, port 8501)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Live prediction panel refreshing every 30 seconds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9202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Interactive candlestick chart with volume bars and moving averages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Model comparison table and training plots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560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Works offline -- reads from data files if the API is unavailable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84632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INFRASTRUCTURE (DOCKER COMPOSE)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3F7A"/>
                </a:solidFill>
                <a:latin typeface="Calibri"/>
              </a:rPr>
              <a:t>All supporting services run in Docker containers: Kafka, PostgreSQL, pgAdmin, Metabase -- started with one command.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90D9"/>
                </a:solidFill>
                <a:latin typeface="Calibri"/>
              </a:rPr>
              <a:t>What was achieved and what comes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WHAT THE PROJECT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A fully working pipeline: from live stock feeds all the way to served predictions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4310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Real-time and batch data processed with the same logic -- consistent 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ARIMA selected as the best model: average prediction error of only $3.15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890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All 6 data quality checks passed; pipeline is safe to re-run at any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3756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429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CURRENT 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Training data is small (471 rows), which limits more complex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3766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ARIMA is univariate -- it does not use the 14 engineered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80560"/>
            <a:ext cx="1124712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A1A2E"/>
                </a:solidFill>
                <a:latin typeface="Calibri"/>
              </a:rPr>
              <a:t>- Retraining must be triggered manually; there is no automatic schedule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029200"/>
            <a:ext cx="11430000" cy="18288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5120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F7A"/>
                </a:solidFill>
                <a:latin typeface="Calibri"/>
              </a:rPr>
              <a:t>FUTURE IMPROVEMENTS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6811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- Use ARIMAX to include external features (market sentiment, macroeconomic data)  |  - Add Apache Airflow for automated daily retraining  |  - Extend to multiple tickers (MSFT, NVDA, GOOGL)  |  - Deploy to cloud infrastructure for production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