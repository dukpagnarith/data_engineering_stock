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0D2B55"/>
                </a:solidFill>
              </a:rPr>
              <a:t>Mean Absolute Error -- USD (lower is better)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MAE</c:v>
                </c:pt>
              </c:strCache>
            </c:strRef>
          </c:tx>
          <c:dPt>
            <c:idx val="0"/>
            <c:spPr>
              <a:solidFill>
                <a:srgbClr val="1E8B4C"/>
              </a:solidFill>
            </c:spPr>
          </c:dPt>
          <c:dPt>
            <c:idx val="1"/>
            <c:spPr>
              <a:solidFill>
                <a:srgbClr val="2E86C1"/>
              </a:solidFill>
            </c:spPr>
          </c:dPt>
          <c:dPt>
            <c:idx val="2"/>
            <c:spPr>
              <a:solidFill>
                <a:srgbClr val="C0392B"/>
              </a:solidFill>
            </c:spPr>
          </c:dPt>
          <c:cat>
            <c:strRef>
              <c:f>Sheet1!$A$2:$A$4</c:f>
              <c:strCache>
                <c:ptCount val="3"/>
                <c:pt idx="0">
                  <c:v>ARIMA</c:v>
                </c:pt>
                <c:pt idx="1">
                  <c:v>LightGBM</c:v>
                </c:pt>
                <c:pt idx="2">
                  <c:v>LSTM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3.15</c:v>
                </c:pt>
                <c:pt idx="1">
                  <c:v>9.96</c:v>
                </c:pt>
                <c:pt idx="2">
                  <c:v>41.97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 b="1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0D2B55"/>
                </a:solidFill>
              </a:rPr>
              <a:t>Sharpe Ratio (higher = profitable trading signal)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C0392B"/>
              </a:solidFill>
            </c:spPr>
          </c:dPt>
          <c:dPt>
            <c:idx val="1"/>
            <c:spPr>
              <a:solidFill>
                <a:srgbClr val="2E86C1"/>
              </a:solidFill>
            </c:spPr>
          </c:dPt>
          <c:dPt>
            <c:idx val="2"/>
            <c:spPr>
              <a:solidFill>
                <a:srgbClr val="1E8B4C"/>
              </a:solidFill>
            </c:spPr>
          </c:dPt>
          <c:cat>
            <c:strRef>
              <c:f>Sheet1!$A$2:$A$4</c:f>
              <c:strCache>
                <c:ptCount val="3"/>
                <c:pt idx="0">
                  <c:v>LSTM</c:v>
                </c:pt>
                <c:pt idx="1">
                  <c:v>LightGBM</c:v>
                </c:pt>
                <c:pt idx="2">
                  <c:v>ARIMA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-1.85</c:v>
                </c:pt>
                <c:pt idx="1">
                  <c:v>-1.13</c:v>
                </c:pt>
                <c:pt idx="2">
                  <c:v>1.88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3240"/>
            <a:ext cx="12188952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01200" y="0"/>
            <a:ext cx="2587752" cy="2286000"/>
          </a:xfrm>
          <a:prstGeom prst="rect">
            <a:avLst/>
          </a:prstGeom>
          <a:solidFill>
            <a:srgbClr val="15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029200"/>
            <a:ext cx="3200400" cy="1828800"/>
          </a:xfrm>
          <a:prstGeom prst="rect">
            <a:avLst/>
          </a:prstGeom>
          <a:solidFill>
            <a:srgbClr val="15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0058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End-to-End Stock Price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Data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461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5C1E9"/>
                </a:solidFill>
                <a:latin typeface="Calibri"/>
              </a:rPr>
              <a:t>From Real-Time Data Collection to Machine Learning Predictions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4206240"/>
            <a:ext cx="2103120" cy="347472"/>
          </a:xfrm>
          <a:prstGeom prst="rect">
            <a:avLst/>
          </a:prstGeom>
          <a:solidFill>
            <a:srgbClr val="1A3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20624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[Your Name]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94760" y="4206240"/>
            <a:ext cx="2103120" cy="347472"/>
          </a:xfrm>
          <a:prstGeom prst="rect">
            <a:avLst/>
          </a:prstGeom>
          <a:solidFill>
            <a:srgbClr val="1A3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60" y="420624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[Student ID]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4206240"/>
            <a:ext cx="2103120" cy="347472"/>
          </a:xfrm>
          <a:prstGeom prst="rect">
            <a:avLst/>
          </a:prstGeom>
          <a:solidFill>
            <a:srgbClr val="1A3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420624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[Course Name]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41080" y="4206240"/>
            <a:ext cx="2103120" cy="347472"/>
          </a:xfrm>
          <a:prstGeom prst="rect">
            <a:avLst/>
          </a:prstGeom>
          <a:solidFill>
            <a:srgbClr val="1A3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41080" y="420624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[Date]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394960"/>
            <a:ext cx="1691640" cy="347472"/>
          </a:xfrm>
          <a:prstGeom prst="rect">
            <a:avLst/>
          </a:prstGeom>
          <a:solidFill>
            <a:srgbClr val="0A2040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539496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5C1E9"/>
                </a:solidFill>
                <a:latin typeface="Calibri"/>
              </a:rPr>
              <a:t>Apache Kafka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5394960"/>
            <a:ext cx="1691640" cy="347472"/>
          </a:xfrm>
          <a:prstGeom prst="rect">
            <a:avLst/>
          </a:prstGeom>
          <a:solidFill>
            <a:srgbClr val="0A2040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23160" y="539496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5C1E9"/>
                </a:solidFill>
                <a:latin typeface="Calibri"/>
              </a:rPr>
              <a:t>PySpark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5394960"/>
            <a:ext cx="1691640" cy="347472"/>
          </a:xfrm>
          <a:prstGeom prst="rect">
            <a:avLst/>
          </a:prstGeom>
          <a:solidFill>
            <a:srgbClr val="0A2040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3400" y="539496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5C1E9"/>
                </a:solidFill>
                <a:latin typeface="Calibri"/>
              </a:rPr>
              <a:t>PostgreSQL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5394960"/>
            <a:ext cx="1691640" cy="347472"/>
          </a:xfrm>
          <a:prstGeom prst="rect">
            <a:avLst/>
          </a:prstGeom>
          <a:solidFill>
            <a:srgbClr val="0A2040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539496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5C1E9"/>
                </a:solidFill>
                <a:latin typeface="Calibri"/>
              </a:rPr>
              <a:t>ARIMA / LightGBM / LSTM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80" y="5394960"/>
            <a:ext cx="1691640" cy="347472"/>
          </a:xfrm>
          <a:prstGeom prst="rect">
            <a:avLst/>
          </a:prstGeom>
          <a:solidFill>
            <a:srgbClr val="0A2040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80" y="539496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5C1E9"/>
                </a:solidFill>
                <a:latin typeface="Calibri"/>
              </a:rPr>
              <a:t>FastAPI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104120" y="5394960"/>
            <a:ext cx="1691640" cy="347472"/>
          </a:xfrm>
          <a:prstGeom prst="rect">
            <a:avLst/>
          </a:prstGeom>
          <a:solidFill>
            <a:srgbClr val="0A2040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04120" y="539496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5C1E9"/>
                </a:solidFill>
                <a:latin typeface="Calibri"/>
              </a:rPr>
              <a:t>Streamlit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46988"/>
            <a:ext cx="12188952" cy="5029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5C1E9"/>
                </a:solidFill>
                <a:latin typeface="Calibri"/>
              </a:rPr>
              <a:t>Why this project was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394960" cy="5212080"/>
          </a:xfrm>
          <a:prstGeom prst="rect">
            <a:avLst/>
          </a:prstGeom>
          <a:solidFill>
            <a:srgbClr val="EBF5FB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307592"/>
            <a:ext cx="51755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Calibri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691640"/>
            <a:ext cx="5166360" cy="33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- Stock prices arrive every second in real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029460"/>
            <a:ext cx="5166360" cy="33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  time, but most projects only work with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367280"/>
            <a:ext cx="5166360" cy="33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  downloaded CSV files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705100"/>
            <a:ext cx="5166360" cy="33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3042920"/>
            <a:ext cx="5166360" cy="33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- No unified system exists that handles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3380740"/>
            <a:ext cx="5166360" cy="33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  live data, cleans it, stores it, 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3718560"/>
            <a:ext cx="5166360" cy="33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  makes predictions all in one place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4056380"/>
            <a:ext cx="5166360" cy="33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4394200"/>
            <a:ext cx="5166360" cy="33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- It is unclear whether complex deep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4732020"/>
            <a:ext cx="5166360" cy="33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  learning models actually outperform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5069840"/>
            <a:ext cx="5166360" cy="33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  simple models on small datasets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1234440"/>
            <a:ext cx="5852160" cy="5212080"/>
          </a:xfrm>
          <a:prstGeom prst="rect">
            <a:avLst/>
          </a:prstGeom>
          <a:solidFill>
            <a:srgbClr val="EAF4EE"/>
          </a:solidFill>
          <a:ln w="1905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9048" y="1307592"/>
            <a:ext cx="56327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8B4C"/>
                </a:solidFill>
                <a:latin typeface="Calibri"/>
              </a:rPr>
              <a:t>PROJECT GOALS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3912" y="1691640"/>
            <a:ext cx="5623560" cy="33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- Build a complete pipeline from live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53912" y="2029460"/>
            <a:ext cx="5623560" cy="33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  data collection to serving predictions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53912" y="2367280"/>
            <a:ext cx="5623560" cy="33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53912" y="2705100"/>
            <a:ext cx="5623560" cy="33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- Handle both historical and live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53912" y="3042920"/>
            <a:ext cx="5623560" cy="33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  streaming data in the same 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53912" y="3380740"/>
            <a:ext cx="5623560" cy="33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53912" y="3718560"/>
            <a:ext cx="5623560" cy="33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- Train and compare three prediction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53912" y="4056380"/>
            <a:ext cx="5623560" cy="33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  models to find which works best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53912" y="4394200"/>
            <a:ext cx="5623560" cy="33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53912" y="4732020"/>
            <a:ext cx="5623560" cy="33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- Display predictions through a web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53912" y="5069840"/>
            <a:ext cx="5623560" cy="33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  dashboard and a REST API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46988"/>
            <a:ext cx="12188952" cy="5029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5C1E9"/>
                </a:solidFill>
                <a:latin typeface="Calibri"/>
              </a:rPr>
              <a:t>Five-stage Lambda Architecture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1920240" cy="1280160"/>
          </a:xfrm>
          <a:prstGeom prst="rect">
            <a:avLst/>
          </a:prstGeom>
          <a:solidFill>
            <a:srgbClr val="0D2B55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3716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86C1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709928"/>
            <a:ext cx="19202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Data
Ingestion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240280" y="1938528"/>
            <a:ext cx="201168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86584" y="1847088"/>
            <a:ext cx="54864" cy="23774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41448" y="1325880"/>
            <a:ext cx="1920240" cy="1280160"/>
          </a:xfrm>
          <a:prstGeom prst="rect">
            <a:avLst/>
          </a:prstGeom>
          <a:solidFill>
            <a:srgbClr val="0D2B55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41448" y="13716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86C1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1448" y="1709928"/>
            <a:ext cx="19202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ETL
Pipeline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61688" y="1938528"/>
            <a:ext cx="201168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07992" y="1847088"/>
            <a:ext cx="54864" cy="23774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62856" y="1325880"/>
            <a:ext cx="1920240" cy="1280160"/>
          </a:xfrm>
          <a:prstGeom prst="rect">
            <a:avLst/>
          </a:prstGeom>
          <a:solidFill>
            <a:srgbClr val="0D2B55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13716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86C1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1709928"/>
            <a:ext cx="19202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Data
Warehouse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83096" y="1938528"/>
            <a:ext cx="201168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29400" y="1847088"/>
            <a:ext cx="54864" cy="23774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84264" y="1325880"/>
            <a:ext cx="1920240" cy="1280160"/>
          </a:xfrm>
          <a:prstGeom prst="rect">
            <a:avLst/>
          </a:prstGeom>
          <a:solidFill>
            <a:srgbClr val="0D2B55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84264" y="13716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86C1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84264" y="1709928"/>
            <a:ext cx="19202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ML
Training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04504" y="1938528"/>
            <a:ext cx="201168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750808" y="1847088"/>
            <a:ext cx="54864" cy="23774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05672" y="1325880"/>
            <a:ext cx="1920240" cy="1280160"/>
          </a:xfrm>
          <a:prstGeom prst="rect">
            <a:avLst/>
          </a:prstGeom>
          <a:solidFill>
            <a:srgbClr val="0D2B55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05672" y="13716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86C1"/>
                </a:solidFill>
                <a:latin typeface="Calibr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05672" y="1709928"/>
            <a:ext cx="19202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Serving
Layer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715768"/>
            <a:ext cx="1828800" cy="347472"/>
          </a:xfrm>
          <a:prstGeom prst="rect">
            <a:avLst/>
          </a:prstGeom>
          <a:solidFill>
            <a:srgbClr val="D6EAF8"/>
          </a:solidFill>
          <a:ln w="9525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271576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B55"/>
                </a:solidFill>
                <a:latin typeface="Calibri"/>
              </a:rPr>
              <a:t>yfinance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127248"/>
            <a:ext cx="1828800" cy="347472"/>
          </a:xfrm>
          <a:prstGeom prst="rect">
            <a:avLst/>
          </a:prstGeom>
          <a:solidFill>
            <a:srgbClr val="D6EAF8"/>
          </a:solidFill>
          <a:ln w="9525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312724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B55"/>
                </a:solidFill>
                <a:latin typeface="Calibri"/>
              </a:rPr>
              <a:t>Finnhub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487168" y="2715768"/>
            <a:ext cx="1828800" cy="347472"/>
          </a:xfrm>
          <a:prstGeom prst="rect">
            <a:avLst/>
          </a:prstGeom>
          <a:solidFill>
            <a:srgbClr val="D6EAF8"/>
          </a:solidFill>
          <a:ln w="9525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87168" y="271576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B55"/>
                </a:solidFill>
                <a:latin typeface="Calibri"/>
              </a:rPr>
              <a:t>Kafka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87168" y="3127248"/>
            <a:ext cx="1828800" cy="347472"/>
          </a:xfrm>
          <a:prstGeom prst="rect">
            <a:avLst/>
          </a:prstGeom>
          <a:solidFill>
            <a:srgbClr val="D6EAF8"/>
          </a:solidFill>
          <a:ln w="9525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87168" y="312724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B55"/>
                </a:solidFill>
                <a:latin typeface="Calibri"/>
              </a:rPr>
              <a:t>PySpark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08576" y="2715768"/>
            <a:ext cx="1828800" cy="347472"/>
          </a:xfrm>
          <a:prstGeom prst="rect">
            <a:avLst/>
          </a:prstGeom>
          <a:solidFill>
            <a:srgbClr val="D6EAF8"/>
          </a:solidFill>
          <a:ln w="9525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08576" y="271576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B55"/>
                </a:solidFill>
                <a:latin typeface="Calibri"/>
              </a:rPr>
              <a:t>Parquet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08576" y="3127248"/>
            <a:ext cx="1828800" cy="347472"/>
          </a:xfrm>
          <a:prstGeom prst="rect">
            <a:avLst/>
          </a:prstGeom>
          <a:solidFill>
            <a:srgbClr val="D6EAF8"/>
          </a:solidFill>
          <a:ln w="9525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08576" y="312724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B55"/>
                </a:solidFill>
                <a:latin typeface="Calibri"/>
              </a:rPr>
              <a:t>PostgreSQL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29984" y="2715768"/>
            <a:ext cx="1828800" cy="347472"/>
          </a:xfrm>
          <a:prstGeom prst="rect">
            <a:avLst/>
          </a:prstGeom>
          <a:solidFill>
            <a:srgbClr val="D6EAF8"/>
          </a:solidFill>
          <a:ln w="9525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29984" y="271576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B55"/>
                </a:solidFill>
                <a:latin typeface="Calibri"/>
              </a:rPr>
              <a:t>ARIMA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29984" y="3127248"/>
            <a:ext cx="1828800" cy="347472"/>
          </a:xfrm>
          <a:prstGeom prst="rect">
            <a:avLst/>
          </a:prstGeom>
          <a:solidFill>
            <a:srgbClr val="D6EAF8"/>
          </a:solidFill>
          <a:ln w="9525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29984" y="312724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B55"/>
                </a:solidFill>
                <a:latin typeface="Calibri"/>
              </a:rPr>
              <a:t>LightGBM
LSTM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851392" y="2715768"/>
            <a:ext cx="1828800" cy="347472"/>
          </a:xfrm>
          <a:prstGeom prst="rect">
            <a:avLst/>
          </a:prstGeom>
          <a:solidFill>
            <a:srgbClr val="D6EAF8"/>
          </a:solidFill>
          <a:ln w="9525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851392" y="271576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B55"/>
                </a:solidFill>
                <a:latin typeface="Calibri"/>
              </a:rPr>
              <a:t>FastAPI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851392" y="3127248"/>
            <a:ext cx="1828800" cy="347472"/>
          </a:xfrm>
          <a:prstGeom prst="rect">
            <a:avLst/>
          </a:prstGeom>
          <a:solidFill>
            <a:srgbClr val="D6EAF8"/>
          </a:solidFill>
          <a:ln w="9525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851392" y="312724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B55"/>
                </a:solidFill>
                <a:latin typeface="Calibri"/>
              </a:rPr>
              <a:t>Streamlit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4114800"/>
            <a:ext cx="11430000" cy="2743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65760" y="4206240"/>
            <a:ext cx="11430000" cy="685800"/>
          </a:xfrm>
          <a:prstGeom prst="rect">
            <a:avLst/>
          </a:prstGeom>
          <a:solidFill>
            <a:srgbClr val="FEF9E7"/>
          </a:solidFill>
          <a:ln w="19050">
            <a:solidFill>
              <a:srgbClr val="D4AC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425196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86C00"/>
                </a:solidFill>
                <a:latin typeface="Calibri"/>
              </a:rPr>
              <a:t>Key Design Principle:  The real-time path and the historical batch path share the same cleaning and transform logic -- so results are always consistent regardless of the data source.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5029200"/>
            <a:ext cx="11430000" cy="1463040"/>
          </a:xfrm>
          <a:prstGeom prst="rect">
            <a:avLst/>
          </a:prstGeom>
          <a:solidFill>
            <a:srgbClr val="F4F6F9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" y="50749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  <a:latin typeface="Calibri"/>
              </a:rPr>
              <a:t>Lambda Architecture -- Two Paths, One Output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5440680"/>
            <a:ext cx="1920240" cy="32918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544068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SPEED LAYER (Real-Time)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606040" y="5440680"/>
            <a:ext cx="8961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Finnhub WebSocket  -&gt;  Kafka  -&gt;  PySpark Streaming  -&gt;  Bronze Layer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8640" y="5897880"/>
            <a:ext cx="1920240" cy="329184"/>
          </a:xfrm>
          <a:prstGeom prst="rect">
            <a:avLst/>
          </a:prstGeom>
          <a:solidFill>
            <a:srgbClr val="1A3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8640" y="589788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BATCH LAYER (Historical)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606040" y="5897880"/>
            <a:ext cx="8961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Yahoo Finance API  -&gt;  Parquet  -&gt;  PySpark Batch  -&gt;  Bronze Layer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46988"/>
            <a:ext cx="12188952" cy="5029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Stage 1 -- Data Ingestion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5C1E9"/>
                </a:solidFill>
                <a:latin typeface="Calibri"/>
              </a:rPr>
              <a:t>Collecting stock data from two sources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394960" cy="4023360"/>
          </a:xfrm>
          <a:prstGeom prst="rect">
            <a:avLst/>
          </a:prstGeom>
          <a:solidFill>
            <a:srgbClr val="EAF4FF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5394960" cy="38404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LIVE DATA  (REAL-TIME)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737360"/>
            <a:ext cx="5166360" cy="33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- Connects to Finnhub WebSocket during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075180"/>
            <a:ext cx="5166360" cy="33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  US market hours (9:30am - 4:00pm EST)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413000"/>
            <a:ext cx="5166360" cy="33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750820"/>
            <a:ext cx="5166360" cy="33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- Receives trade events every second: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3088640"/>
            <a:ext cx="5166360" cy="33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  price, volume, and timestamp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3426460"/>
            <a:ext cx="5166360" cy="33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3764280"/>
            <a:ext cx="5166360" cy="33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- Bad records sent to a Dead Letter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4102100"/>
            <a:ext cx="5166360" cy="33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  Queue for review and auditing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9320" y="1234440"/>
            <a:ext cx="5852160" cy="4023360"/>
          </a:xfrm>
          <a:prstGeom prst="rect">
            <a:avLst/>
          </a:prstGeom>
          <a:solidFill>
            <a:srgbClr val="EAF4FF"/>
          </a:solidFill>
          <a:ln w="25400">
            <a:solidFill>
              <a:srgbClr val="1A3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89320" y="1234440"/>
            <a:ext cx="5852160" cy="384048"/>
          </a:xfrm>
          <a:prstGeom prst="rect">
            <a:avLst/>
          </a:prstGeom>
          <a:solidFill>
            <a:srgbClr val="1A3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1234440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HISTORICAL DATA  (BATCH)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53912" y="1737360"/>
            <a:ext cx="5623560" cy="33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- Downloads 2 years of AAPL daily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3912" y="2075180"/>
            <a:ext cx="5623560" cy="33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  stock prices from Yahoo Finance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53912" y="2413000"/>
            <a:ext cx="5623560" cy="33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53912" y="2750820"/>
            <a:ext cx="5623560" cy="33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- Each row: open, high, low, close,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53912" y="3088640"/>
            <a:ext cx="5623560" cy="33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  volume for that trading 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53912" y="3426460"/>
            <a:ext cx="5623560" cy="33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53912" y="3764280"/>
            <a:ext cx="5623560" cy="33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- Saved as a Parquet file for fast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53912" y="4102100"/>
            <a:ext cx="5623560" cy="33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  processing in the next stage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349240"/>
            <a:ext cx="11430000" cy="2743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5440680"/>
            <a:ext cx="11430000" cy="1051560"/>
          </a:xfrm>
          <a:prstGeom prst="rect">
            <a:avLst/>
          </a:prstGeom>
          <a:solidFill>
            <a:srgbClr val="EAF4EE"/>
          </a:solidFill>
          <a:ln w="1905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4864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8B4C"/>
                </a:solidFill>
                <a:latin typeface="Calibri"/>
              </a:rPr>
              <a:t>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501 rows of AAPL daily OHLCV data  |  Approx. 2 years of trading days  |  Both sources produce the same schema for unified downstream processing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46988"/>
            <a:ext cx="12188952" cy="5029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Stage 2 -- ETL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5C1E9"/>
                </a:solidFill>
                <a:latin typeface="Calibri"/>
              </a:rPr>
              <a:t>Extract, Transform, Load: cleaning and moving the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80160"/>
            <a:ext cx="2286000" cy="1234440"/>
          </a:xfrm>
          <a:prstGeom prst="rect">
            <a:avLst/>
          </a:prstGeom>
          <a:solidFill>
            <a:srgbClr val="2E86C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37160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Finnhub
WebSocket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965960"/>
            <a:ext cx="2286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02996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6EAF8"/>
                </a:solidFill>
                <a:latin typeface="Calibri"/>
              </a:rPr>
              <a:t>Live Ticks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06040" y="1869948"/>
            <a:ext cx="292608" cy="54864"/>
          </a:xfrm>
          <a:prstGeom prst="rect">
            <a:avLst/>
          </a:prstGeom>
          <a:solidFill>
            <a:srgbClr val="85C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43784" y="1760220"/>
            <a:ext cx="73152" cy="274320"/>
          </a:xfrm>
          <a:prstGeom prst="rect">
            <a:avLst/>
          </a:prstGeom>
          <a:solidFill>
            <a:srgbClr val="85C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71800" y="1280160"/>
            <a:ext cx="2286000" cy="1234440"/>
          </a:xfrm>
          <a:prstGeom prst="rect">
            <a:avLst/>
          </a:prstGeom>
          <a:solidFill>
            <a:srgbClr val="1A3F7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800" y="137160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Apache
Kafka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71800" y="1965960"/>
            <a:ext cx="2286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71800" y="202996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6EAF8"/>
                </a:solidFill>
                <a:latin typeface="Calibri"/>
              </a:rPr>
              <a:t>Message Queue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57800" y="1869948"/>
            <a:ext cx="292608" cy="54864"/>
          </a:xfrm>
          <a:prstGeom prst="rect">
            <a:avLst/>
          </a:prstGeom>
          <a:solidFill>
            <a:srgbClr val="85C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95544" y="1760220"/>
            <a:ext cx="73152" cy="274320"/>
          </a:xfrm>
          <a:prstGeom prst="rect">
            <a:avLst/>
          </a:prstGeom>
          <a:solidFill>
            <a:srgbClr val="85C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23560" y="1280160"/>
            <a:ext cx="2286000" cy="1234440"/>
          </a:xfrm>
          <a:prstGeom prst="rect">
            <a:avLst/>
          </a:prstGeom>
          <a:solidFill>
            <a:srgbClr val="2E86C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23560" y="137160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PySpark
Streaming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23560" y="1965960"/>
            <a:ext cx="2286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23560" y="202996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6EAF8"/>
                </a:solidFill>
                <a:latin typeface="Calibri"/>
              </a:rPr>
              <a:t>1-min OHLCV Bars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09560" y="1869948"/>
            <a:ext cx="292608" cy="54864"/>
          </a:xfrm>
          <a:prstGeom prst="rect">
            <a:avLst/>
          </a:prstGeom>
          <a:solidFill>
            <a:srgbClr val="85C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47304" y="1760220"/>
            <a:ext cx="73152" cy="274320"/>
          </a:xfrm>
          <a:prstGeom prst="rect">
            <a:avLst/>
          </a:prstGeom>
          <a:solidFill>
            <a:srgbClr val="85C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75320" y="1280160"/>
            <a:ext cx="2286000" cy="1234440"/>
          </a:xfrm>
          <a:prstGeom prst="rect">
            <a:avLst/>
          </a:prstGeom>
          <a:solidFill>
            <a:srgbClr val="1E8B4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137160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Bronze
Layer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75320" y="1965960"/>
            <a:ext cx="2286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202996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6EAF8"/>
                </a:solidFill>
                <a:latin typeface="Calibri"/>
              </a:rPr>
              <a:t>Parquet + PostgreSQL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651760"/>
            <a:ext cx="5349240" cy="3337560"/>
          </a:xfrm>
          <a:prstGeom prst="rect">
            <a:avLst/>
          </a:prstGeom>
          <a:solidFill>
            <a:srgbClr val="F4F6F9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8" y="2724912"/>
            <a:ext cx="5129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86C1"/>
                </a:solidFill>
                <a:latin typeface="Calibri"/>
              </a:rPr>
              <a:t>APACHE KAFKA  --  MESSAGE QUEUE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" y="3044952"/>
            <a:ext cx="5120640" cy="313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- Main topic: 3 partitions, 7-day retention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" y="3358642"/>
            <a:ext cx="5120640" cy="313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- Dead Letter Queue: holds bad messages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" y="3672332"/>
            <a:ext cx="5120640" cy="313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  for 30 days for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" y="3986022"/>
            <a:ext cx="5120640" cy="313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- Acts as a buffer: data is never lost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" y="4299712"/>
            <a:ext cx="5120640" cy="313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  even if the processor crashes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" y="4613402"/>
            <a:ext cx="5120640" cy="313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- Decouples ingestion from processing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97880" y="2651760"/>
            <a:ext cx="5943600" cy="3337560"/>
          </a:xfrm>
          <a:prstGeom prst="rect">
            <a:avLst/>
          </a:prstGeom>
          <a:solidFill>
            <a:srgbClr val="F4F6F9"/>
          </a:solidFill>
          <a:ln w="19050">
            <a:solidFill>
              <a:srgbClr val="1A3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07608" y="2724912"/>
            <a:ext cx="57241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F7A"/>
                </a:solidFill>
                <a:latin typeface="Calibri"/>
              </a:rPr>
              <a:t>PYSPARK  --  PROCESSING ENGINE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62472" y="3044952"/>
            <a:ext cx="5715000" cy="313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- Streaming: groups ticks into 1-minute bars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62472" y="3358642"/>
            <a:ext cx="5715000" cy="313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  (open, high, low, close, volume, VWAP)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62472" y="3672332"/>
            <a:ext cx="5715000" cy="313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- Accepts late data arriving up to 5 min late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62472" y="3986022"/>
            <a:ext cx="5715000" cy="313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- Batch: same transform applied to 2-year file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62472" y="4299712"/>
            <a:ext cx="5715000" cy="313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- Writes to Parquet and PostgreSQL together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62472" y="4613402"/>
            <a:ext cx="5715000" cy="313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- Exactly-once delivery via checkpointing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46988"/>
            <a:ext cx="12188952" cy="5029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Stage 3 -- Medallion Data Warehouse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5C1E9"/>
                </a:solidFill>
                <a:latin typeface="Calibri"/>
              </a:rPr>
              <a:t>Three quality tiers: Bronze -&gt; Silver -&gt; Gold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3474720" cy="5029200"/>
          </a:xfrm>
          <a:prstGeom prst="rect">
            <a:avLst/>
          </a:prstGeom>
          <a:solidFill>
            <a:srgbClr val="FDF2EC"/>
          </a:solidFill>
          <a:ln w="25400">
            <a:solidFill>
              <a:srgbClr val="A05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3474720" cy="502920"/>
          </a:xfrm>
          <a:prstGeom prst="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2344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BRONZE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55448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Raw Storage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1874520"/>
            <a:ext cx="324612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Data stored exactly as received,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2164080"/>
            <a:ext cx="324612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nothing is changed or removed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453640"/>
            <a:ext cx="324612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2743200"/>
            <a:ext cx="324612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Append-only -- acts as a permanent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3032760"/>
            <a:ext cx="324612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backup for the entire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" y="3322320"/>
            <a:ext cx="324612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3611880"/>
            <a:ext cx="324612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Partitioned by date and ticker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" y="3901440"/>
            <a:ext cx="324612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for fast access later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" y="4191000"/>
            <a:ext cx="324612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" y="4480560"/>
            <a:ext cx="324612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If anything goes wrong downstream,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" y="4770120"/>
            <a:ext cx="324612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reprocessing starts from here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94760" y="3721608"/>
            <a:ext cx="246888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977640" y="3611880"/>
            <a:ext cx="82296" cy="2743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0" y="1234440"/>
            <a:ext cx="3474720" cy="5029200"/>
          </a:xfrm>
          <a:prstGeom prst="rect">
            <a:avLst/>
          </a:prstGeom>
          <a:solidFill>
            <a:srgbClr val="F2F3F4"/>
          </a:solidFill>
          <a:ln w="25400">
            <a:solidFill>
              <a:srgbClr val="8592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0" y="1234440"/>
            <a:ext cx="3474720" cy="502920"/>
          </a:xfrm>
          <a:prstGeom prst="rect">
            <a:avLst/>
          </a:prstGeom>
          <a:solidFill>
            <a:srgbClr val="859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0" y="12344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SILVER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155448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Clean + Enriched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79392" y="1874520"/>
            <a:ext cx="324612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Remove nulls, duplicates, and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79392" y="2164080"/>
            <a:ext cx="324612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invalid records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79392" y="2453640"/>
            <a:ext cx="324612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79392" y="2743200"/>
            <a:ext cx="324612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Flag price spikes &gt; 3 standard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79392" y="3032760"/>
            <a:ext cx="324612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deviations (3.6% flagged)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79392" y="3322320"/>
            <a:ext cx="324612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79392" y="3611880"/>
            <a:ext cx="324612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Add 14 features: SMA-7/30, EMA,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79392" y="3901440"/>
            <a:ext cx="324612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RSI, MACD, Bollinger Bands,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79392" y="4191000"/>
            <a:ext cx="324612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daily return, volume signal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79392" y="4480560"/>
            <a:ext cx="324612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79392" y="4770120"/>
            <a:ext cx="324612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All 6 data quality checks passed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89520" y="3721608"/>
            <a:ext cx="246888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772400" y="3611880"/>
            <a:ext cx="82296" cy="2743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09560" y="1234440"/>
            <a:ext cx="3474720" cy="5029200"/>
          </a:xfrm>
          <a:prstGeom prst="rect">
            <a:avLst/>
          </a:prstGeom>
          <a:solidFill>
            <a:srgbClr val="FEF9E7"/>
          </a:solidFill>
          <a:ln w="25400">
            <a:solidFill>
              <a:srgbClr val="D4AC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1234440"/>
            <a:ext cx="3474720" cy="502920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09560" y="12344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GOLD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09560" y="155448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Ready for Analysis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74152" y="1874520"/>
            <a:ext cx="324612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Organized as a Star Schema: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74152" y="2164080"/>
            <a:ext cx="324612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one fact table + 3 dimension tables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74152" y="2453640"/>
            <a:ext cx="324612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74152" y="2743200"/>
            <a:ext cx="324612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Fact table: 501 rows with all 14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74152" y="3032760"/>
            <a:ext cx="324612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features + next-day close as target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74152" y="3322320"/>
            <a:ext cx="324612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74152" y="3611880"/>
            <a:ext cx="324612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dim_ticker, dim_date (730 days),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74152" y="3901440"/>
            <a:ext cx="324612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dim_market_session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74152" y="4191000"/>
            <a:ext cx="324612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74152" y="4480560"/>
            <a:ext cx="324612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Loaded into PostgreSQL for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74152" y="4770120"/>
            <a:ext cx="324612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fast real-time API queries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46988"/>
            <a:ext cx="12188952" cy="5029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Stage 4 -- Machine Learning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5C1E9"/>
                </a:solidFill>
                <a:latin typeface="Calibri"/>
              </a:rPr>
              <a:t>Three models trained and compared using time-based split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1430000" cy="777240"/>
          </a:xfrm>
          <a:prstGeom prst="rect">
            <a:avLst/>
          </a:prstGeom>
          <a:solidFill>
            <a:srgbClr val="F4F6F9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6187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55"/>
                </a:solidFill>
                <a:latin typeface="Calibri"/>
              </a:rPr>
              <a:t>Data Split (Time-Based -- No Shuffling to prevent data leakage)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64208"/>
            <a:ext cx="6675120" cy="256032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64208"/>
            <a:ext cx="6675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TRAIN  70%  (329 rows)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1664208"/>
            <a:ext cx="1965960" cy="25603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50608" y="1664208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VAL  15%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34856" y="1664208"/>
            <a:ext cx="233172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34856" y="1664208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TEST  15%  (71 rows)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194560"/>
            <a:ext cx="3474720" cy="4069080"/>
          </a:xfrm>
          <a:prstGeom prst="rect">
            <a:avLst/>
          </a:prstGeom>
          <a:solidFill>
            <a:srgbClr val="F4F6F9"/>
          </a:solidFill>
          <a:ln w="25400">
            <a:solidFill>
              <a:srgbClr val="1A3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194560"/>
            <a:ext cx="3474720" cy="566928"/>
          </a:xfrm>
          <a:prstGeom prst="rect">
            <a:avLst/>
          </a:prstGeom>
          <a:solidFill>
            <a:srgbClr val="1A3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23113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ARIMA  (5,1,2)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57860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Classic Time Series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2880360"/>
            <a:ext cx="324612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Input: past closing prices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3169920"/>
            <a:ext cx="324612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(univariate)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3459480"/>
            <a:ext cx="324612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3749040"/>
            <a:ext cx="324612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5 AR lags capture recent price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4038600"/>
            <a:ext cx="324612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memory and trend patterns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4328160"/>
            <a:ext cx="324612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4617720"/>
            <a:ext cx="324612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1st-order differencing removes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4907280"/>
            <a:ext cx="324612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the long-term price trend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5196840"/>
            <a:ext cx="324612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5486400"/>
            <a:ext cx="324612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Best suited for small datasets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5775960"/>
            <a:ext cx="324612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with strong autocorrelation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51960" y="2194560"/>
            <a:ext cx="3474720" cy="4069080"/>
          </a:xfrm>
          <a:prstGeom prst="rect">
            <a:avLst/>
          </a:prstGeom>
          <a:solidFill>
            <a:srgbClr val="F4F6F9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51960" y="2194560"/>
            <a:ext cx="3474720" cy="56692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51960" y="223113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LightGBM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257860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Gradient Boosting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16552" y="2880360"/>
            <a:ext cx="324612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Input: all 19 engineered features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16552" y="3169920"/>
            <a:ext cx="324612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16552" y="3459480"/>
            <a:ext cx="324612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500 decision trees built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16552" y="3749040"/>
            <a:ext cx="324612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sequentially to fix errors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16552" y="4038600"/>
            <a:ext cx="324612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16552" y="4328160"/>
            <a:ext cx="324612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Early stopping at 50 rounds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16552" y="4617720"/>
            <a:ext cx="324612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to prevent overfitting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16552" y="4907280"/>
            <a:ext cx="324612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16552" y="5196840"/>
            <a:ext cx="324612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Learning rate: 0.05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16552" y="5486400"/>
            <a:ext cx="324612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Max tree depth: 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38160" y="2194560"/>
            <a:ext cx="3474720" cy="4069080"/>
          </a:xfrm>
          <a:prstGeom prst="rect">
            <a:avLst/>
          </a:prstGeom>
          <a:solidFill>
            <a:srgbClr val="F4F6F9"/>
          </a:solidFill>
          <a:ln w="25400">
            <a:solidFill>
              <a:srgbClr val="6C3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138160" y="2194560"/>
            <a:ext cx="3474720" cy="566928"/>
          </a:xfrm>
          <a:prstGeom prst="rect">
            <a:avLst/>
          </a:prstGeom>
          <a:solidFill>
            <a:srgbClr val="6C3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38160" y="223113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LSTM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38160" y="257860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Deep Learning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02752" y="2880360"/>
            <a:ext cx="324612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Input: 30-day sliding window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02752" y="3169920"/>
            <a:ext cx="324612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with 19 features per day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02752" y="3459480"/>
            <a:ext cx="324612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02752" y="3749040"/>
            <a:ext cx="324612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Two stacked LSTM layers: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02752" y="4038600"/>
            <a:ext cx="324612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64 units -&gt; Dropout -&gt; 32 units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02752" y="4328160"/>
            <a:ext cx="324612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02752" y="4617720"/>
            <a:ext cx="324612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Dropout (20%) prevents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02752" y="4907280"/>
            <a:ext cx="324612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overfitting to training data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02752" y="5196840"/>
            <a:ext cx="324612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02752" y="5486400"/>
            <a:ext cx="324612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Outputs a single next-day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02752" y="5775960"/>
            <a:ext cx="324612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price prediction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6400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3F7A"/>
                </a:solidFill>
                <a:latin typeface="Calibri"/>
              </a:rPr>
              <a:t>All runs tracked with MLflow for reproducibility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46988"/>
            <a:ext cx="12188952" cy="5029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Model Performance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5C1E9"/>
                </a:solidFill>
                <a:latin typeface="Calibri"/>
              </a:rPr>
              <a:t>Test set -- 71 most recent trading days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261872"/>
          <a:ext cx="621792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6320"/>
                <a:gridCol w="1036320"/>
                <a:gridCol w="1036320"/>
                <a:gridCol w="1036320"/>
                <a:gridCol w="1036320"/>
                <a:gridCol w="1036320"/>
              </a:tblGrid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MAE ($)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RMSE ($)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MAPE (%)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Direction (%)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Sharpe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ARIMA  (Winner)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3.15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4.33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1.19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23.97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+1.88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LightGBM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9.96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13.13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3.66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23.29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-1.13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LSTM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41.97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43.26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15.80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22.41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-1.85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766560" y="1143000"/>
          <a:ext cx="50292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65760" y="3063240"/>
          <a:ext cx="5943600" cy="2286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6492240" y="4023360"/>
            <a:ext cx="5349240" cy="2423160"/>
          </a:xfrm>
          <a:prstGeom prst="rect">
            <a:avLst/>
          </a:prstGeom>
          <a:solidFill>
            <a:srgbClr val="EAF4EE"/>
          </a:solidFill>
          <a:ln w="1905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1968" y="4096512"/>
            <a:ext cx="5129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8B4C"/>
                </a:solidFill>
                <a:latin typeface="Calibri"/>
              </a:rPr>
              <a:t>KEY FINDINGS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6832" y="4434840"/>
            <a:ext cx="5120640" cy="313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- ARIMA wins on all five 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6832" y="4748530"/>
            <a:ext cx="5120640" cy="313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- Sharpe +1.88 means profitable signals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2" y="5062220"/>
            <a:ext cx="5120640" cy="313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- LightGBM and LSTM overfit on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2" y="5375910"/>
            <a:ext cx="5120640" cy="313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  471 training rows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6832" y="5689600"/>
            <a:ext cx="5120640" cy="313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- Simpler models can outperform deep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6832" y="6003290"/>
            <a:ext cx="5120640" cy="313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  learning on small financial datasets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46988"/>
            <a:ext cx="12188952" cy="5029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Stage 5 -- Application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5C1E9"/>
                </a:solidFill>
                <a:latin typeface="Calibri"/>
              </a:rPr>
              <a:t>REST API and interactive dashboard for serving predictions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394960" cy="4114800"/>
          </a:xfrm>
          <a:prstGeom prst="rect">
            <a:avLst/>
          </a:prstGeom>
          <a:solidFill>
            <a:srgbClr val="EAF4FF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5394960" cy="38404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FastAPI  --  REST API  (port 8000)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19072"/>
            <a:ext cx="1280160" cy="2926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71907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/predict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71907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Next-day predicted closing price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103120"/>
            <a:ext cx="1280160" cy="2926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10312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/history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10312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Recent OHLCV from PostgreSQL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487168"/>
            <a:ext cx="1280160" cy="2926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48716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/retrain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248716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Trigger retraining in background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871216"/>
            <a:ext cx="1280160" cy="2926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871216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/health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287121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Check system and model status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337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- Best model (ARIMA) loaded once at startup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657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- Every prediction saved to database for tracking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97763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- Input/output validated with Pydantic schemas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97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- Docs auto-generated at /docs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234440"/>
            <a:ext cx="5852160" cy="4114800"/>
          </a:xfrm>
          <a:prstGeom prst="rect">
            <a:avLst/>
          </a:prstGeom>
          <a:solidFill>
            <a:srgbClr val="F9EBEA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89320" y="1234440"/>
            <a:ext cx="585216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89320" y="1234440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Streamlit Dashboard  (port 8501)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53912" y="1737360"/>
            <a:ext cx="5623560" cy="313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- Live prediction panel that refreshes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53912" y="2051050"/>
            <a:ext cx="5623560" cy="313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  every 30 seconds automatically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53912" y="2364740"/>
            <a:ext cx="5623560" cy="313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53912" y="2678430"/>
            <a:ext cx="5623560" cy="313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- Interactive candlestick chart with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53912" y="2992120"/>
            <a:ext cx="5623560" cy="313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  volume bars and moving average lines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53912" y="3305810"/>
            <a:ext cx="5623560" cy="313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53912" y="3619500"/>
            <a:ext cx="5623560" cy="313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- Model metrics comparison table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53912" y="3933190"/>
            <a:ext cx="5623560" cy="313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  and all 6 training plots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53912" y="4246880"/>
            <a:ext cx="5623560" cy="313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53912" y="4560570"/>
            <a:ext cx="5623560" cy="313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- Works offline: falls back to local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53912" y="4874260"/>
            <a:ext cx="5623560" cy="313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  data files if the API is unavailable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5486400"/>
            <a:ext cx="11430000" cy="2743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5760" y="5577840"/>
            <a:ext cx="11430000" cy="914400"/>
          </a:xfrm>
          <a:prstGeom prst="rect">
            <a:avLst/>
          </a:prstGeom>
          <a:solidFill>
            <a:srgbClr val="F4F6F9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561441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55"/>
                </a:solidFill>
                <a:latin typeface="Calibri"/>
              </a:rPr>
              <a:t>Infrastructure (Docker Compose) -- One command starts everything: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5943600"/>
            <a:ext cx="2011680" cy="320040"/>
          </a:xfrm>
          <a:prstGeom prst="rect">
            <a:avLst/>
          </a:prstGeom>
          <a:solidFill>
            <a:srgbClr val="1A3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59436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Kafka + Zookeeper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0" y="5943600"/>
            <a:ext cx="2011680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0" y="59436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PostgreSQL :5433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83480" y="5943600"/>
            <a:ext cx="2011680" cy="3200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83480" y="59436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pgAdmin :5051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223760" y="5943600"/>
            <a:ext cx="2011680" cy="3200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23760" y="59436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Metabase :3000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464040" y="5943600"/>
            <a:ext cx="2011680" cy="320040"/>
          </a:xfrm>
          <a:prstGeom prst="rect">
            <a:avLst/>
          </a:prstGeom>
          <a:solidFill>
            <a:srgbClr val="6C3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464040" y="59436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Schema Registry :8081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46988"/>
            <a:ext cx="12188952" cy="5029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5C1E9"/>
                </a:solidFill>
                <a:latin typeface="Calibri"/>
              </a:rPr>
              <a:t>What was achieved and what comes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486400" cy="3108960"/>
          </a:xfrm>
          <a:prstGeom prst="rect">
            <a:avLst/>
          </a:prstGeom>
          <a:solidFill>
            <a:srgbClr val="EAF4EE"/>
          </a:solidFill>
          <a:ln w="2540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5486400" cy="384048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WHAT THE PROJECT ACHIEVED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709928"/>
            <a:ext cx="5257800" cy="313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- Complete pipeline from live feeds 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023618"/>
            <a:ext cx="5257800" cy="313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  served predictions -- all stages working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337308"/>
            <a:ext cx="5257800" cy="313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650998"/>
            <a:ext cx="5257800" cy="313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- Real-time and batch data processed with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964688"/>
            <a:ext cx="5257800" cy="313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  the same logic (consistent results)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3278378"/>
            <a:ext cx="5257800" cy="313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3592068"/>
            <a:ext cx="5257800" cy="313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- ARIMA selected as best model: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3905758"/>
            <a:ext cx="5257800" cy="313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  avg. error $3.15, Sharpe +1.88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4219448"/>
            <a:ext cx="5257800" cy="313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4533138"/>
            <a:ext cx="5257800" cy="313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- All 6 data quality checks passed;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4846828"/>
            <a:ext cx="5257800" cy="313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  pipeline is safe to re-run at any time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60" y="1234440"/>
            <a:ext cx="5760720" cy="3108960"/>
          </a:xfrm>
          <a:prstGeom prst="rect">
            <a:avLst/>
          </a:prstGeom>
          <a:solidFill>
            <a:srgbClr val="FDF2EC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80760" y="1234440"/>
            <a:ext cx="576072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0760" y="1234440"/>
            <a:ext cx="5760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CURRENT LIMITATIONS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09928"/>
            <a:ext cx="5532120" cy="313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- Training set is small (471 rows),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45352" y="2023618"/>
            <a:ext cx="5532120" cy="313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  limiting complex model performance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45352" y="2337308"/>
            <a:ext cx="5532120" cy="313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45352" y="2650998"/>
            <a:ext cx="5532120" cy="313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- ARIMA is univariate -- does not use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5352" y="2964688"/>
            <a:ext cx="5532120" cy="313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  the 14 engineered features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3278378"/>
            <a:ext cx="5532120" cy="313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45352" y="3592068"/>
            <a:ext cx="5532120" cy="313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- Retraining must be triggered manually;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3905758"/>
            <a:ext cx="5532120" cy="313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  no automatic daily schedule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45352" y="4219448"/>
            <a:ext cx="5532120" cy="313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45352" y="4533138"/>
            <a:ext cx="5532120" cy="313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- No authentication on the 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45352" y="4846828"/>
            <a:ext cx="5532120" cy="313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  or dashboard (development only)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480560"/>
            <a:ext cx="11430000" cy="2743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4553712"/>
            <a:ext cx="11430000" cy="1965960"/>
          </a:xfrm>
          <a:prstGeom prst="rect">
            <a:avLst/>
          </a:prstGeom>
          <a:solidFill>
            <a:srgbClr val="FEF9E7"/>
          </a:solidFill>
          <a:ln w="25400">
            <a:solidFill>
              <a:srgbClr val="D4AC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" y="4553712"/>
            <a:ext cx="11430000" cy="384048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455371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FUTURE IMPROVEMENTS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5010912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C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5047488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Use ARIMAX to include external features like market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565099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3F7A"/>
                </a:solidFill>
                <a:latin typeface="Calibri"/>
              </a:rPr>
              <a:t>sentiment and macroeconomic indicators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37560" y="5010912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C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29000" y="5047488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Add Apache Airflow for automated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29000" y="565099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3F7A"/>
                </a:solidFill>
                <a:latin typeface="Calibri"/>
              </a:rPr>
              <a:t>daily retraining on a fixed schedule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72200" y="5010912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C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63640" y="5047488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Extend to multiple tickers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565099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3F7A"/>
                </a:solidFill>
                <a:latin typeface="Calibri"/>
              </a:rPr>
              <a:t>(MSFT, NVDA, GOOGL) with separate models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06840" y="5010912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C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98280" y="5047488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Deploy to cloud infrastructure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98280" y="565099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3F7A"/>
                </a:solidFill>
                <a:latin typeface="Calibri"/>
              </a:rPr>
              <a:t>(AWS or GCP) for production use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